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0" r:id="rId3"/>
    <p:sldId id="267" r:id="rId4"/>
    <p:sldId id="270" r:id="rId5"/>
    <p:sldId id="269" r:id="rId6"/>
    <p:sldId id="268" r:id="rId7"/>
    <p:sldId id="271" r:id="rId8"/>
    <p:sldId id="272" r:id="rId9"/>
    <p:sldId id="275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5B7A"/>
    <a:srgbClr val="4F4E88"/>
    <a:srgbClr val="3B3838"/>
    <a:srgbClr val="4995E0"/>
    <a:srgbClr val="97C5B0"/>
    <a:srgbClr val="5C85AD"/>
    <a:srgbClr val="FBCBA6"/>
    <a:srgbClr val="E5A5B6"/>
    <a:srgbClr val="92BFEC"/>
    <a:srgbClr val="A146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77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3098A-83C1-4280-BB8F-B30C5F01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8D748-E9B8-4243-BD90-70E20B5E1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101AB-FDEA-4949-A9C5-2A846E677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A84D-98CB-47B0-910A-B14CA91304CB}" type="datetimeFigureOut">
              <a:rPr lang="en-US" smtClean="0"/>
              <a:t>1/18/2019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DA094-4512-4610-B9F7-12E708A3E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4D1E8-534A-464F-8C0E-C2F3E2BF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44418-7042-47ED-B40B-70A7E9B24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4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25F0-C74B-43D6-991B-E7FF91540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12EE2-1F58-4C6F-9927-8E3462EC6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419A7-541D-4D77-B617-0A2FDE48F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A84D-98CB-47B0-910A-B14CA91304CB}" type="datetimeFigureOut">
              <a:rPr lang="en-US" smtClean="0"/>
              <a:t>1/18/2019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18AD9-2D00-42C5-8A05-24D45761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99E5E-D154-4EB3-8C20-6C68EB0E5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44418-7042-47ED-B40B-70A7E9B24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81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CF18A-5FCE-4B53-A18F-8E9A76457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22DBA-64FF-4666-9943-CCB49A625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3E8DC-ECF9-43F1-84C5-4B3A793E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A84D-98CB-47B0-910A-B14CA91304CB}" type="datetimeFigureOut">
              <a:rPr lang="en-US" smtClean="0"/>
              <a:t>1/18/2019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7DD49-6E7A-482B-A62D-9D0D3F8B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CE7E2-CE55-481D-8B93-8491A48C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44418-7042-47ED-B40B-70A7E9B24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07E45-5124-4BFC-B94D-47B5BC34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7A14C-46B9-4E9D-8EA7-76F56CF72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18AF1-B05B-4C0F-BD8E-12E4F203A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6D22F-EF7C-4ACE-9F89-E6617EE8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A84D-98CB-47B0-910A-B14CA91304CB}" type="datetimeFigureOut">
              <a:rPr lang="en-US" smtClean="0"/>
              <a:t>1/18/2019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4D436-FD44-4C7B-8CA1-4603C448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D16BF-2BD1-42BC-B00F-6ADD227DC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44418-7042-47ED-B40B-70A7E9B24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88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26C05-15BC-457D-8EF7-5112B9D59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ED720-BBF9-4AF3-BDCF-6C1C91A70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35CC2-AC13-4831-97CF-75C1CA7B9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2E8703-7822-47A6-9B8B-FC6EE6DE0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455DE8-3F90-4D45-A05B-E02C875CFC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4D9BB-58B4-46DB-BE33-3AE059416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A84D-98CB-47B0-910A-B14CA91304CB}" type="datetimeFigureOut">
              <a:rPr lang="en-US" smtClean="0"/>
              <a:t>1/18/2019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68DBC5-7B09-4384-87DF-5680CE20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62A79-EF10-491A-B074-E2C91FE79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44418-7042-47ED-B40B-70A7E9B24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7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20B5-9531-48E6-869E-19F1B4D05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81149-918E-473F-9515-0D2D11A5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A84D-98CB-47B0-910A-B14CA91304CB}" type="datetimeFigureOut">
              <a:rPr lang="en-US" smtClean="0"/>
              <a:t>1/18/2019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9C83E-B3F0-4034-ABAA-9BBBAB8A9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EAAE0-038C-4F72-AF07-435C31F0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44418-7042-47ED-B40B-70A7E9B24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30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B9A12-68CE-4713-BA8F-E515800D3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A84D-98CB-47B0-910A-B14CA91304CB}" type="datetimeFigureOut">
              <a:rPr lang="en-US" smtClean="0"/>
              <a:t>1/18/2019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333FDF-F94E-4A40-B133-3E4B797E4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B6436-D152-4B70-9117-7EDF49BE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44418-7042-47ED-B40B-70A7E9B24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0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D46EA-6A28-4A70-95DC-2C4B6932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74888-50F7-4A22-BED0-ECD8B9028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1B095-B670-4C8C-B794-2C10A324B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33A97-0B5F-4A79-B842-4225AE92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A84D-98CB-47B0-910A-B14CA91304CB}" type="datetimeFigureOut">
              <a:rPr lang="en-US" smtClean="0"/>
              <a:t>1/18/2019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BE8D7-8733-4A1E-B808-9A5910402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ECD28-9B04-4E6E-BFCB-DCD8AADA3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44418-7042-47ED-B40B-70A7E9B24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20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2020-C20B-454A-BD28-8172CBA3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CA8840-54F5-44CF-B6CD-49EC295FB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A1B0B-B0D6-4685-8E5E-469C92F27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0495C-9ADF-41C7-91CB-8C113CD80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A84D-98CB-47B0-910A-B14CA91304CB}" type="datetimeFigureOut">
              <a:rPr lang="en-US" smtClean="0"/>
              <a:t>1/18/2019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AE7B5-833E-40CF-999C-D6C0F47CF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68E86-4DE0-4E92-9040-45B78853F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44418-7042-47ED-B40B-70A7E9B24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19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89E7D-9216-4C38-97EB-3114BA8E5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94DED4-A667-419D-9B23-B40CB00ED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75024-0F66-42EA-893E-EA14279F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A84D-98CB-47B0-910A-B14CA91304CB}" type="datetimeFigureOut">
              <a:rPr lang="en-US" smtClean="0"/>
              <a:t>1/18/2019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53902-B637-41B1-A4C8-AE4688A14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91681-32B9-49CE-83D9-79DC4900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44418-7042-47ED-B40B-70A7E9B24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2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585B39-44F1-4FA2-9C70-DE634B441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CE746-F364-47E8-93F4-FF98CDFC8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8EC3A-199F-4F98-82E1-3AFD12D96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A84D-98CB-47B0-910A-B14CA91304CB}" type="datetimeFigureOut">
              <a:rPr lang="en-US" smtClean="0"/>
              <a:t>1/18/2019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52BAD-D219-41DD-B135-2C8D784E3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CA946-A55E-48DB-A6B9-3801A63E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44418-7042-47ED-B40B-70A7E9B24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41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8B782A-0A96-4C8F-80D5-2FB7653BB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E9C65-19FF-4C57-91AC-BD0B95B5F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CAEC6-7F7D-4FDF-A886-2B667A97B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8A84D-98CB-47B0-910A-B14CA91304CB}" type="datetimeFigureOut">
              <a:rPr lang="en-US" smtClean="0"/>
              <a:t>1/18/2019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BA20-195A-42D1-ADFD-BFA39F31B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116CE-A8A1-4D54-9720-58E29B6D7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44418-7042-47ED-B40B-70A7E9B24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8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13BD90D-BB63-48ED-8C14-C5BAA6C87E19}"/>
              </a:ext>
            </a:extLst>
          </p:cNvPr>
          <p:cNvSpPr/>
          <p:nvPr/>
        </p:nvSpPr>
        <p:spPr>
          <a:xfrm>
            <a:off x="5870713" y="0"/>
            <a:ext cx="6321286" cy="6858000"/>
          </a:xfrm>
          <a:prstGeom prst="rect">
            <a:avLst/>
          </a:prstGeom>
          <a:solidFill>
            <a:srgbClr val="5C85AD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8E4072-D702-45BD-91A0-576E16CC37D1}"/>
              </a:ext>
            </a:extLst>
          </p:cNvPr>
          <p:cNvSpPr txBox="1"/>
          <p:nvPr/>
        </p:nvSpPr>
        <p:spPr>
          <a:xfrm>
            <a:off x="5870711" y="2089230"/>
            <a:ext cx="6321287" cy="1569660"/>
          </a:xfrm>
          <a:prstGeom prst="rect">
            <a:avLst/>
          </a:prstGeom>
          <a:solidFill>
            <a:srgbClr val="5C85A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CITY OF BRYAN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5EF313-CE2D-4CEA-9DDC-D10F7C69F449}"/>
              </a:ext>
            </a:extLst>
          </p:cNvPr>
          <p:cNvSpPr/>
          <p:nvPr/>
        </p:nvSpPr>
        <p:spPr>
          <a:xfrm>
            <a:off x="8097129" y="5137259"/>
            <a:ext cx="4094869" cy="1720740"/>
          </a:xfrm>
          <a:prstGeom prst="rect">
            <a:avLst/>
          </a:prstGeom>
          <a:solidFill>
            <a:srgbClr val="A1465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3BF66C-4FB7-4695-8C8A-45D31D604790}"/>
              </a:ext>
            </a:extLst>
          </p:cNvPr>
          <p:cNvSpPr txBox="1"/>
          <p:nvPr/>
        </p:nvSpPr>
        <p:spPr>
          <a:xfrm>
            <a:off x="8097128" y="5233714"/>
            <a:ext cx="2481684" cy="1674305"/>
          </a:xfrm>
          <a:prstGeom prst="rect">
            <a:avLst/>
          </a:prstGeom>
          <a:solidFill>
            <a:srgbClr val="A1465C"/>
          </a:solidFill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100"/>
            </a:pPr>
            <a:r>
              <a:rPr lang="en-US" sz="1600" kern="0" dirty="0">
                <a:solidFill>
                  <a:schemeClr val="bg1"/>
                </a:solidFill>
                <a:latin typeface="Bahnschrift SemiBold Condensed" panose="020B0502040204020203" pitchFamily="34" charset="0"/>
                <a:ea typeface="Oswald Light"/>
                <a:cs typeface="Oswald Light"/>
                <a:sym typeface="Oswald Light"/>
              </a:rPr>
              <a:t>BY GROUP 4 | POWERPOINT BY CHRISTIAN SANCHEZ</a:t>
            </a:r>
          </a:p>
          <a:p>
            <a:pPr lvl="0">
              <a:buClr>
                <a:srgbClr val="000000"/>
              </a:buClr>
            </a:pPr>
            <a:r>
              <a:rPr lang="en-US" sz="1200" kern="0" dirty="0">
                <a:solidFill>
                  <a:schemeClr val="bg1"/>
                </a:solidFill>
                <a:latin typeface="Bahnschrift SemiBold Condensed" panose="020B0502040204020203" pitchFamily="34" charset="0"/>
                <a:ea typeface="Oswald Light"/>
                <a:cs typeface="Oswald Light"/>
                <a:sym typeface="Oswald Light"/>
              </a:rPr>
              <a:t>                                      </a:t>
            </a:r>
          </a:p>
          <a:p>
            <a:pPr lvl="0">
              <a:buClr>
                <a:srgbClr val="000000"/>
              </a:buClr>
            </a:pPr>
            <a:endParaRPr lang="en-US" sz="1200" kern="0" dirty="0">
              <a:solidFill>
                <a:schemeClr val="bg1"/>
              </a:solidFill>
              <a:latin typeface="Bahnschrift SemiBold Condensed" panose="020B0502040204020203" pitchFamily="34" charset="0"/>
              <a:ea typeface="Oswald Light"/>
              <a:cs typeface="Oswald Light"/>
              <a:sym typeface="Oswald Light"/>
            </a:endParaRPr>
          </a:p>
          <a:p>
            <a:pPr lvl="0">
              <a:buClr>
                <a:srgbClr val="000000"/>
              </a:buClr>
            </a:pPr>
            <a:endParaRPr lang="en-US" sz="1200" kern="0" dirty="0">
              <a:solidFill>
                <a:schemeClr val="bg1"/>
              </a:solidFill>
              <a:latin typeface="Bahnschrift SemiBold Condensed" panose="020B0502040204020203" pitchFamily="34" charset="0"/>
              <a:ea typeface="Oswald Light"/>
              <a:cs typeface="Oswald Light"/>
              <a:sym typeface="Oswald Light"/>
            </a:endParaRPr>
          </a:p>
          <a:p>
            <a:pPr lvl="0">
              <a:buClr>
                <a:srgbClr val="000000"/>
              </a:buClr>
            </a:pPr>
            <a:endParaRPr lang="en-US" sz="1200" kern="0" dirty="0">
              <a:solidFill>
                <a:schemeClr val="bg1"/>
              </a:solidFill>
              <a:latin typeface="Bahnschrift SemiBold Condensed" panose="020B0502040204020203" pitchFamily="34" charset="0"/>
              <a:ea typeface="Oswald Light"/>
              <a:cs typeface="Oswald Light"/>
              <a:sym typeface="Oswald Light"/>
            </a:endParaRPr>
          </a:p>
          <a:p>
            <a:endParaRPr lang="en-US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A7CCE5-ADBA-472F-8A86-0E640AE364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86" b="100000" l="0" r="100000">
                        <a14:backgroundMark x1="9473" y1="44070" x2="9473" y2="44070"/>
                        <a14:backgroundMark x1="30176" y1="48316" x2="30176" y2="48316"/>
                        <a14:backgroundMark x1="28418" y1="52709" x2="28418" y2="52709"/>
                        <a14:backgroundMark x1="44824" y1="21230" x2="44824" y2="21230"/>
                        <a14:backgroundMark x1="64941" y1="46559" x2="64941" y2="46559"/>
                        <a14:backgroundMark x1="71484" y1="51684" x2="71484" y2="51684"/>
                        <a14:backgroundMark x1="74609" y1="55783" x2="74609" y2="55783"/>
                        <a14:backgroundMark x1="78125" y1="59004" x2="78125" y2="59004"/>
                        <a14:backgroundMark x1="79980" y1="64422" x2="79980" y2="64422"/>
                        <a14:backgroundMark x1="87207" y1="70717" x2="87207" y2="70717"/>
                        <a14:backgroundMark x1="90430" y1="73792" x2="90430" y2="73792"/>
                        <a14:backgroundMark x1="97461" y1="5710" x2="97461" y2="5710"/>
                        <a14:backgroundMark x1="98242" y1="43631" x2="98242" y2="43631"/>
                        <a14:backgroundMark x1="98828" y1="66471" x2="98828" y2="66471"/>
                        <a14:backgroundMark x1="93066" y1="70864" x2="93066" y2="70864"/>
                        <a14:backgroundMark x1="37891" y1="60029" x2="37891" y2="60029"/>
                        <a14:backgroundMark x1="88867" y1="74085" x2="88867" y2="74085"/>
                        <a14:backgroundMark x1="76563" y1="65300" x2="76563" y2="65300"/>
                        <a14:backgroundMark x1="79102" y1="62372" x2="79102" y2="62372"/>
                        <a14:backgroundMark x1="85156" y1="61201" x2="85156" y2="61201"/>
                        <a14:backgroundMark x1="91211" y1="60176" x2="91211" y2="60176"/>
                        <a14:backgroundMark x1="94629" y1="56955" x2="94629" y2="569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00"/>
          <a:stretch/>
        </p:blipFill>
        <p:spPr>
          <a:xfrm>
            <a:off x="0" y="1478369"/>
            <a:ext cx="8097128" cy="540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84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0E2C6F-382B-44F1-866C-615DD0067EB1}"/>
              </a:ext>
            </a:extLst>
          </p:cNvPr>
          <p:cNvSpPr/>
          <p:nvPr/>
        </p:nvSpPr>
        <p:spPr>
          <a:xfrm>
            <a:off x="1" y="0"/>
            <a:ext cx="5125867" cy="6857999"/>
          </a:xfrm>
          <a:prstGeom prst="rect">
            <a:avLst/>
          </a:prstGeom>
          <a:solidFill>
            <a:srgbClr val="4995E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529E61-99C1-4463-B6EC-D71233AE8B6E}"/>
              </a:ext>
            </a:extLst>
          </p:cNvPr>
          <p:cNvSpPr txBox="1"/>
          <p:nvPr/>
        </p:nvSpPr>
        <p:spPr>
          <a:xfrm>
            <a:off x="0" y="5842336"/>
            <a:ext cx="5093720" cy="1015663"/>
          </a:xfrm>
          <a:prstGeom prst="rect">
            <a:avLst/>
          </a:prstGeom>
          <a:solidFill>
            <a:srgbClr val="4995E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INTRODUCTION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3E5495-5BC8-48DA-8A37-F1EE57BCD742}"/>
              </a:ext>
            </a:extLst>
          </p:cNvPr>
          <p:cNvSpPr/>
          <p:nvPr/>
        </p:nvSpPr>
        <p:spPr>
          <a:xfrm>
            <a:off x="5123510" y="-1"/>
            <a:ext cx="1713117" cy="5382883"/>
          </a:xfrm>
          <a:prstGeom prst="rect">
            <a:avLst/>
          </a:prstGeom>
          <a:solidFill>
            <a:srgbClr val="4F4E8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08F39D-DD08-46EA-B7CE-8B94990F0C9E}"/>
              </a:ext>
            </a:extLst>
          </p:cNvPr>
          <p:cNvSpPr/>
          <p:nvPr/>
        </p:nvSpPr>
        <p:spPr>
          <a:xfrm>
            <a:off x="6836627" y="-1"/>
            <a:ext cx="1808191" cy="4259381"/>
          </a:xfrm>
          <a:prstGeom prst="rect">
            <a:avLst/>
          </a:prstGeom>
          <a:solidFill>
            <a:srgbClr val="5C85A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4494A2-5CE2-4E73-B7A6-7FF3EC4B4FDB}"/>
              </a:ext>
            </a:extLst>
          </p:cNvPr>
          <p:cNvSpPr txBox="1"/>
          <p:nvPr/>
        </p:nvSpPr>
        <p:spPr>
          <a:xfrm>
            <a:off x="5123510" y="4982772"/>
            <a:ext cx="1713117" cy="400110"/>
          </a:xfrm>
          <a:prstGeom prst="rect">
            <a:avLst/>
          </a:prstGeom>
          <a:solidFill>
            <a:srgbClr val="4F4E88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FOUNDED IN 1871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D19C3E-AC72-45E2-874F-D0C5649F4607}"/>
              </a:ext>
            </a:extLst>
          </p:cNvPr>
          <p:cNvSpPr txBox="1"/>
          <p:nvPr/>
        </p:nvSpPr>
        <p:spPr>
          <a:xfrm>
            <a:off x="6837267" y="3582193"/>
            <a:ext cx="1806909" cy="707886"/>
          </a:xfrm>
          <a:prstGeom prst="rect">
            <a:avLst/>
          </a:prstGeom>
          <a:solidFill>
            <a:srgbClr val="5C85AD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POPULATION OF 84,367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A530D-819E-4888-9FAC-0F3F2E9E7210}"/>
              </a:ext>
            </a:extLst>
          </p:cNvPr>
          <p:cNvSpPr/>
          <p:nvPr/>
        </p:nvSpPr>
        <p:spPr>
          <a:xfrm>
            <a:off x="8643540" y="0"/>
            <a:ext cx="1808191" cy="2984740"/>
          </a:xfrm>
          <a:prstGeom prst="rect">
            <a:avLst/>
          </a:prstGeom>
          <a:solidFill>
            <a:srgbClr val="97C5B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2D9EC0-7813-4A5D-BB7D-D1E497AC618D}"/>
              </a:ext>
            </a:extLst>
          </p:cNvPr>
          <p:cNvSpPr txBox="1"/>
          <p:nvPr/>
        </p:nvSpPr>
        <p:spPr>
          <a:xfrm>
            <a:off x="8643538" y="2360050"/>
            <a:ext cx="1808191" cy="677108"/>
          </a:xfrm>
          <a:prstGeom prst="rect">
            <a:avLst/>
          </a:prstGeom>
          <a:solidFill>
            <a:srgbClr val="97C5B0"/>
          </a:solidFill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HOME OF BLINN COLLEGE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06673A-4612-41F1-8E09-8C9CBC466EF8}"/>
              </a:ext>
            </a:extLst>
          </p:cNvPr>
          <p:cNvSpPr/>
          <p:nvPr/>
        </p:nvSpPr>
        <p:spPr>
          <a:xfrm>
            <a:off x="10451732" y="0"/>
            <a:ext cx="1740268" cy="2352258"/>
          </a:xfrm>
          <a:prstGeom prst="rect">
            <a:avLst/>
          </a:prstGeom>
          <a:solidFill>
            <a:srgbClr val="E5A5B6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051392-C25F-4F7A-B9E5-176F97073041}"/>
              </a:ext>
            </a:extLst>
          </p:cNvPr>
          <p:cNvSpPr txBox="1"/>
          <p:nvPr/>
        </p:nvSpPr>
        <p:spPr>
          <a:xfrm>
            <a:off x="10451729" y="1387239"/>
            <a:ext cx="1740270" cy="923330"/>
          </a:xfrm>
          <a:prstGeom prst="rect">
            <a:avLst/>
          </a:prstGeom>
          <a:solidFill>
            <a:srgbClr val="E5A5B6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MIAN ISSUE: PEOPLE JUST AREN’T COMING TO BRYAN</a:t>
            </a:r>
          </a:p>
        </p:txBody>
      </p:sp>
    </p:spTree>
    <p:extLst>
      <p:ext uri="{BB962C8B-B14F-4D97-AF65-F5344CB8AC3E}">
        <p14:creationId xmlns:p14="http://schemas.microsoft.com/office/powerpoint/2010/main" val="219821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4" grpId="0" animBg="1"/>
      <p:bldP spid="15" grpId="0" animBg="1"/>
      <p:bldP spid="17" grpId="0" animBg="1"/>
      <p:bldP spid="18" grpId="0" animBg="1"/>
      <p:bldP spid="10" grpId="0" animBg="1"/>
      <p:bldP spid="11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487E95A-9CEB-4BE0-9B14-A1F9187A4DDE}"/>
              </a:ext>
            </a:extLst>
          </p:cNvPr>
          <p:cNvSpPr/>
          <p:nvPr/>
        </p:nvSpPr>
        <p:spPr>
          <a:xfrm>
            <a:off x="0" y="814933"/>
            <a:ext cx="7874529" cy="2916825"/>
          </a:xfrm>
          <a:prstGeom prst="rect">
            <a:avLst/>
          </a:prstGeom>
          <a:solidFill>
            <a:srgbClr val="97C5B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B2372C-DC36-454D-B25A-00CED866F9A8}"/>
              </a:ext>
            </a:extLst>
          </p:cNvPr>
          <p:cNvSpPr txBox="1"/>
          <p:nvPr/>
        </p:nvSpPr>
        <p:spPr>
          <a:xfrm>
            <a:off x="4707258" y="842184"/>
            <a:ext cx="3167270" cy="2862322"/>
          </a:xfrm>
          <a:prstGeom prst="rect">
            <a:avLst/>
          </a:prstGeom>
          <a:solidFill>
            <a:srgbClr val="97C5B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45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ANALYSIS OF THE FIRM </a:t>
            </a:r>
          </a:p>
          <a:p>
            <a:pPr algn="r"/>
            <a:r>
              <a:rPr lang="en-US" sz="45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AND ITS ENVIRONMENT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079795-D889-4790-B747-C8A69F3577FF}"/>
              </a:ext>
            </a:extLst>
          </p:cNvPr>
          <p:cNvGrpSpPr/>
          <p:nvPr/>
        </p:nvGrpSpPr>
        <p:grpSpPr>
          <a:xfrm>
            <a:off x="3184143" y="3731758"/>
            <a:ext cx="4698271" cy="3126242"/>
            <a:chOff x="4317471" y="4175492"/>
            <a:chExt cx="3565555" cy="2372530"/>
          </a:xfrm>
        </p:grpSpPr>
        <p:pic>
          <p:nvPicPr>
            <p:cNvPr id="2050" name="Picture 2" descr="Image result for population">
              <a:extLst>
                <a:ext uri="{FF2B5EF4-FFF2-40B4-BE49-F238E27FC236}">
                  <a16:creationId xmlns:a16="http://schemas.microsoft.com/office/drawing/2014/main" id="{C1052B90-B53C-48B6-9BF6-E226D4E1FA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7471" y="4175492"/>
              <a:ext cx="3561108" cy="23725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7EDDEE-7BE8-4F30-A48A-70A545AECF51}"/>
                </a:ext>
              </a:extLst>
            </p:cNvPr>
            <p:cNvSpPr/>
            <p:nvPr/>
          </p:nvSpPr>
          <p:spPr>
            <a:xfrm>
              <a:off x="4317471" y="5963246"/>
              <a:ext cx="3561108" cy="584775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7DBB96B-B58A-4D76-A686-62B4030D2BA8}"/>
                </a:ext>
              </a:extLst>
            </p:cNvPr>
            <p:cNvSpPr txBox="1"/>
            <p:nvPr/>
          </p:nvSpPr>
          <p:spPr>
            <a:xfrm>
              <a:off x="4321918" y="6030513"/>
              <a:ext cx="3561108" cy="25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Bahnschrift SemiBold Condensed" panose="020B0502040204020203" pitchFamily="34" charset="0"/>
                </a:rPr>
                <a:t>KEY ELEMENTS: GENERAL POPULATION AND CITY REVENUE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060DB5D-11FC-4BBA-8D82-ED03F815FF1D}"/>
              </a:ext>
            </a:extLst>
          </p:cNvPr>
          <p:cNvGrpSpPr/>
          <p:nvPr/>
        </p:nvGrpSpPr>
        <p:grpSpPr>
          <a:xfrm>
            <a:off x="7874529" y="814933"/>
            <a:ext cx="4318303" cy="2916825"/>
            <a:chOff x="8196632" y="1356527"/>
            <a:chExt cx="3561108" cy="2405373"/>
          </a:xfrm>
        </p:grpSpPr>
        <p:pic>
          <p:nvPicPr>
            <p:cNvPr id="2052" name="Picture 4" descr="Image result for a&amp;m campus">
              <a:extLst>
                <a:ext uri="{FF2B5EF4-FFF2-40B4-BE49-F238E27FC236}">
                  <a16:creationId xmlns:a16="http://schemas.microsoft.com/office/drawing/2014/main" id="{8411DDE5-72EB-4078-8EDD-072203DE7C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6632" y="1356527"/>
              <a:ext cx="3561108" cy="2375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E539FEE-8CEA-481D-BD70-97EC482C4702}"/>
                </a:ext>
              </a:extLst>
            </p:cNvPr>
            <p:cNvSpPr/>
            <p:nvPr/>
          </p:nvSpPr>
          <p:spPr>
            <a:xfrm>
              <a:off x="8196632" y="3146982"/>
              <a:ext cx="3561108" cy="58477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BC6B30-FF80-4D99-AA81-835A03A6A35C}"/>
                </a:ext>
              </a:extLst>
            </p:cNvPr>
            <p:cNvSpPr txBox="1"/>
            <p:nvPr/>
          </p:nvSpPr>
          <p:spPr>
            <a:xfrm>
              <a:off x="8196632" y="3177125"/>
              <a:ext cx="35611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Bahnschrift SemiBold Condensed" panose="020B0502040204020203" pitchFamily="34" charset="0"/>
                </a:rPr>
                <a:t>INFLUENCERS IN PERFORMANCE: AMOUNT OF PEOPLE COMING TO A&amp;M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10F2121-2E16-47AA-B386-695309714907}"/>
              </a:ext>
            </a:extLst>
          </p:cNvPr>
          <p:cNvGrpSpPr/>
          <p:nvPr/>
        </p:nvGrpSpPr>
        <p:grpSpPr>
          <a:xfrm>
            <a:off x="7874528" y="3695208"/>
            <a:ext cx="4318304" cy="3162792"/>
            <a:chOff x="7874528" y="3695208"/>
            <a:chExt cx="4318304" cy="3162792"/>
          </a:xfrm>
        </p:grpSpPr>
        <p:pic>
          <p:nvPicPr>
            <p:cNvPr id="2054" name="Picture 6" descr="https://www.bryantx.gov/wp-content/uploads/2015/11/stateofthecity-engineering-1024x683.jpg">
              <a:extLst>
                <a:ext uri="{FF2B5EF4-FFF2-40B4-BE49-F238E27FC236}">
                  <a16:creationId xmlns:a16="http://schemas.microsoft.com/office/drawing/2014/main" id="{C4FD27E0-5CD3-421D-B59D-F8C7155AEC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4528" y="3695208"/>
              <a:ext cx="4318304" cy="3162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E9275-24CB-4FD2-918C-E96034EA0F15}"/>
                </a:ext>
              </a:extLst>
            </p:cNvPr>
            <p:cNvSpPr/>
            <p:nvPr/>
          </p:nvSpPr>
          <p:spPr>
            <a:xfrm>
              <a:off x="7874528" y="6082619"/>
              <a:ext cx="4317472" cy="7753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01D62D5-2694-4135-BC3D-078A32DBF071}"/>
                </a:ext>
              </a:extLst>
            </p:cNvPr>
            <p:cNvSpPr txBox="1"/>
            <p:nvPr/>
          </p:nvSpPr>
          <p:spPr>
            <a:xfrm>
              <a:off x="7881401" y="6176088"/>
              <a:ext cx="4310599" cy="588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Bahnschrift SemiBold Condensed" panose="020B0502040204020203" pitchFamily="34" charset="0"/>
                </a:rPr>
                <a:t>KEY ISSUES: GETTING PEOPLE TO BRYAN, IMPROVING NEGATIVE CONNOTATION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501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8B68E6-989E-2E48-BF9E-7C9DBAB44266}"/>
              </a:ext>
            </a:extLst>
          </p:cNvPr>
          <p:cNvSpPr/>
          <p:nvPr/>
        </p:nvSpPr>
        <p:spPr>
          <a:xfrm>
            <a:off x="1" y="0"/>
            <a:ext cx="3694175" cy="6857999"/>
          </a:xfrm>
          <a:prstGeom prst="rect">
            <a:avLst/>
          </a:prstGeom>
          <a:solidFill>
            <a:srgbClr val="A1465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107204-644C-4F48-9359-662F27CDDAE0}"/>
              </a:ext>
            </a:extLst>
          </p:cNvPr>
          <p:cNvSpPr txBox="1"/>
          <p:nvPr/>
        </p:nvSpPr>
        <p:spPr>
          <a:xfrm>
            <a:off x="0" y="4297103"/>
            <a:ext cx="3694174" cy="2554545"/>
          </a:xfrm>
          <a:prstGeom prst="rect">
            <a:avLst/>
          </a:prstGeom>
          <a:solidFill>
            <a:srgbClr val="A1465C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ANALYSIS OF THE FIRM </a:t>
            </a:r>
          </a:p>
          <a:p>
            <a:pPr algn="r"/>
            <a:r>
              <a:rPr lang="en-US" sz="4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AND ITS ENVIRONMENT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54418A-2172-6A46-9D39-3B892DA21996}"/>
              </a:ext>
            </a:extLst>
          </p:cNvPr>
          <p:cNvSpPr/>
          <p:nvPr/>
        </p:nvSpPr>
        <p:spPr>
          <a:xfrm>
            <a:off x="3694177" y="1"/>
            <a:ext cx="1585594" cy="6857999"/>
          </a:xfrm>
          <a:prstGeom prst="rect">
            <a:avLst/>
          </a:prstGeom>
          <a:solidFill>
            <a:srgbClr val="CF5B7A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7B1462-F947-5843-ACB6-CA7A4B67E879}"/>
              </a:ext>
            </a:extLst>
          </p:cNvPr>
          <p:cNvSpPr txBox="1"/>
          <p:nvPr/>
        </p:nvSpPr>
        <p:spPr>
          <a:xfrm>
            <a:off x="3694177" y="6329330"/>
            <a:ext cx="1585594" cy="461665"/>
          </a:xfrm>
          <a:prstGeom prst="rect">
            <a:avLst/>
          </a:prstGeom>
          <a:solidFill>
            <a:srgbClr val="E5A5B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INTERNAL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88E4A5B-ACB0-2A44-AB74-683DFA04C211}"/>
              </a:ext>
            </a:extLst>
          </p:cNvPr>
          <p:cNvGrpSpPr/>
          <p:nvPr/>
        </p:nvGrpSpPr>
        <p:grpSpPr>
          <a:xfrm>
            <a:off x="5279770" y="0"/>
            <a:ext cx="6912230" cy="1505474"/>
            <a:chOff x="5279770" y="0"/>
            <a:chExt cx="6912230" cy="1505474"/>
          </a:xfrm>
          <a:solidFill>
            <a:srgbClr val="3B3838">
              <a:alpha val="90000"/>
            </a:srgb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BA6E80-7BA2-CD4B-AC4C-9925DD3B6CCF}"/>
                </a:ext>
              </a:extLst>
            </p:cNvPr>
            <p:cNvSpPr/>
            <p:nvPr/>
          </p:nvSpPr>
          <p:spPr>
            <a:xfrm>
              <a:off x="5279770" y="0"/>
              <a:ext cx="6912230" cy="150547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FAC5514-400D-A24B-A9E2-92B8E0DD0947}"/>
                </a:ext>
              </a:extLst>
            </p:cNvPr>
            <p:cNvSpPr txBox="1"/>
            <p:nvPr/>
          </p:nvSpPr>
          <p:spPr>
            <a:xfrm>
              <a:off x="5279770" y="1093319"/>
              <a:ext cx="6912230" cy="400110"/>
            </a:xfrm>
            <a:prstGeom prst="rect">
              <a:avLst/>
            </a:prstGeom>
            <a:solidFill>
              <a:srgbClr val="3B3838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Bahnschrift SemiBold Condensed" panose="020B0502040204020203" pitchFamily="34" charset="0"/>
                </a:rPr>
                <a:t>Financially: Stagnant over the last year, but increased heavily from 2015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F13D35FF-74C2-BB43-8C97-1EFB9331FE61}"/>
              </a:ext>
            </a:extLst>
          </p:cNvPr>
          <p:cNvSpPr/>
          <p:nvPr/>
        </p:nvSpPr>
        <p:spPr>
          <a:xfrm>
            <a:off x="5279770" y="1505474"/>
            <a:ext cx="6912230" cy="1495733"/>
          </a:xfrm>
          <a:prstGeom prst="rect">
            <a:avLst/>
          </a:prstGeom>
          <a:solidFill>
            <a:srgbClr val="4995E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CA635-D9AD-B544-B6FE-06FF9591AC73}"/>
              </a:ext>
            </a:extLst>
          </p:cNvPr>
          <p:cNvSpPr txBox="1"/>
          <p:nvPr/>
        </p:nvSpPr>
        <p:spPr>
          <a:xfrm>
            <a:off x="5279770" y="2590813"/>
            <a:ext cx="6912230" cy="400110"/>
          </a:xfrm>
          <a:prstGeom prst="rect">
            <a:avLst/>
          </a:prstGeom>
          <a:solidFill>
            <a:srgbClr val="4995E0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Basic Strategies: Improve infrastructure and revamp subdivisions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CA327-FA6E-844B-B4C3-8CB1F0506112}"/>
              </a:ext>
            </a:extLst>
          </p:cNvPr>
          <p:cNvSpPr/>
          <p:nvPr/>
        </p:nvSpPr>
        <p:spPr>
          <a:xfrm>
            <a:off x="5279770" y="3001207"/>
            <a:ext cx="6912230" cy="1520576"/>
          </a:xfrm>
          <a:prstGeom prst="rect">
            <a:avLst/>
          </a:prstGeom>
          <a:solidFill>
            <a:srgbClr val="97C5B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3452AF-50DC-D841-B928-0E57EA1EC947}"/>
              </a:ext>
            </a:extLst>
          </p:cNvPr>
          <p:cNvSpPr txBox="1"/>
          <p:nvPr/>
        </p:nvSpPr>
        <p:spPr>
          <a:xfrm>
            <a:off x="5279768" y="4121673"/>
            <a:ext cx="6912231" cy="400110"/>
          </a:xfrm>
          <a:prstGeom prst="rect">
            <a:avLst/>
          </a:prstGeom>
          <a:solidFill>
            <a:srgbClr val="97C5B0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Key Resources: Vacant land and potential areas to improve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8B31BA-C450-1B49-9B0D-5A213CFCC1BE}"/>
              </a:ext>
            </a:extLst>
          </p:cNvPr>
          <p:cNvSpPr/>
          <p:nvPr/>
        </p:nvSpPr>
        <p:spPr>
          <a:xfrm>
            <a:off x="5279770" y="4521783"/>
            <a:ext cx="6912230" cy="1122798"/>
          </a:xfrm>
          <a:prstGeom prst="rect">
            <a:avLst/>
          </a:prstGeom>
          <a:solidFill>
            <a:srgbClr val="FF6B5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B73ABE-D45E-B849-82A0-B5E5FCB7DA1A}"/>
              </a:ext>
            </a:extLst>
          </p:cNvPr>
          <p:cNvSpPr txBox="1"/>
          <p:nvPr/>
        </p:nvSpPr>
        <p:spPr>
          <a:xfrm>
            <a:off x="5279770" y="5244471"/>
            <a:ext cx="6912230" cy="400110"/>
          </a:xfrm>
          <a:prstGeom prst="rect">
            <a:avLst/>
          </a:prstGeom>
          <a:solidFill>
            <a:srgbClr val="FF6B50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Vision: Promotes a “diversity of unique experiences, traditions and innovation”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897E4A3-68F5-7248-84DC-31D98B67F1AF}"/>
              </a:ext>
            </a:extLst>
          </p:cNvPr>
          <p:cNvGrpSpPr/>
          <p:nvPr/>
        </p:nvGrpSpPr>
        <p:grpSpPr>
          <a:xfrm>
            <a:off x="5279770" y="5644581"/>
            <a:ext cx="6912230" cy="1210243"/>
            <a:chOff x="5279770" y="5644581"/>
            <a:chExt cx="6912230" cy="1210243"/>
          </a:xfrm>
          <a:solidFill>
            <a:srgbClr val="4F4E88">
              <a:alpha val="50000"/>
            </a:srgbClr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0E6EB27-49EB-3E45-B350-903FFFFF0302}"/>
                </a:ext>
              </a:extLst>
            </p:cNvPr>
            <p:cNvSpPr/>
            <p:nvPr/>
          </p:nvSpPr>
          <p:spPr>
            <a:xfrm>
              <a:off x="5279770" y="5644581"/>
              <a:ext cx="6912230" cy="12070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157A9EA-6352-ED45-B4B2-901FA0CF8D51}"/>
                </a:ext>
              </a:extLst>
            </p:cNvPr>
            <p:cNvSpPr txBox="1"/>
            <p:nvPr/>
          </p:nvSpPr>
          <p:spPr>
            <a:xfrm>
              <a:off x="5279770" y="6454714"/>
              <a:ext cx="6912230" cy="400110"/>
            </a:xfrm>
            <a:prstGeom prst="rect">
              <a:avLst/>
            </a:prstGeom>
            <a:solidFill>
              <a:srgbClr val="4F4E88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Bahnschrift SemiBold Condensed" panose="020B0502040204020203" pitchFamily="34" charset="0"/>
                </a:rPr>
                <a:t>Key Values: Assisting and improving the community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5193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FEDE9584-50F5-C24A-9409-96D5AD43B077}"/>
              </a:ext>
            </a:extLst>
          </p:cNvPr>
          <p:cNvSpPr txBox="1"/>
          <p:nvPr/>
        </p:nvSpPr>
        <p:spPr>
          <a:xfrm>
            <a:off x="1" y="1966334"/>
            <a:ext cx="12191998" cy="461665"/>
          </a:xfrm>
          <a:prstGeom prst="rect">
            <a:avLst/>
          </a:prstGeom>
          <a:solidFill>
            <a:srgbClr val="3B3838">
              <a:alpha val="9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2400" b="1" dirty="0">
              <a:solidFill>
                <a:schemeClr val="bg1"/>
              </a:solidFill>
              <a:latin typeface="Oswald Light" panose="020B060402020202020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F3C776-80DA-4866-B097-F381CF291D54}"/>
              </a:ext>
            </a:extLst>
          </p:cNvPr>
          <p:cNvSpPr/>
          <p:nvPr/>
        </p:nvSpPr>
        <p:spPr>
          <a:xfrm>
            <a:off x="-1" y="0"/>
            <a:ext cx="12192000" cy="1974574"/>
          </a:xfrm>
          <a:prstGeom prst="rect">
            <a:avLst/>
          </a:prstGeom>
          <a:solidFill>
            <a:srgbClr val="4F4E8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1B640-BA2D-4A00-BB65-8488CC9A652A}"/>
              </a:ext>
            </a:extLst>
          </p:cNvPr>
          <p:cNvSpPr txBox="1"/>
          <p:nvPr/>
        </p:nvSpPr>
        <p:spPr>
          <a:xfrm>
            <a:off x="0" y="1239904"/>
            <a:ext cx="12192001" cy="830997"/>
          </a:xfrm>
          <a:prstGeom prst="rect">
            <a:avLst/>
          </a:prstGeom>
          <a:solidFill>
            <a:srgbClr val="4F4E8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ANALYSIS OF THE FIRM AND ITS ENVIRONMENT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A13883-4298-C449-A813-3777956680E1}"/>
              </a:ext>
            </a:extLst>
          </p:cNvPr>
          <p:cNvSpPr/>
          <p:nvPr/>
        </p:nvSpPr>
        <p:spPr>
          <a:xfrm>
            <a:off x="8596536" y="2421647"/>
            <a:ext cx="3595464" cy="4436353"/>
          </a:xfrm>
          <a:prstGeom prst="rect">
            <a:avLst/>
          </a:prstGeom>
          <a:solidFill>
            <a:srgbClr val="A1465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E446E0-7B67-BA49-B0FB-7417997EC4DC}"/>
              </a:ext>
            </a:extLst>
          </p:cNvPr>
          <p:cNvSpPr txBox="1"/>
          <p:nvPr/>
        </p:nvSpPr>
        <p:spPr>
          <a:xfrm>
            <a:off x="8596537" y="5783958"/>
            <a:ext cx="3595464" cy="1077218"/>
          </a:xfrm>
          <a:prstGeom prst="rect">
            <a:avLst/>
          </a:prstGeom>
          <a:solidFill>
            <a:srgbClr val="A1465C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MAIN </a:t>
            </a:r>
          </a:p>
          <a:p>
            <a:r>
              <a:rPr lang="en-US" sz="32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WEAKNESS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2C5877-0A5E-4649-AB6B-2EF87AD96524}"/>
              </a:ext>
            </a:extLst>
          </p:cNvPr>
          <p:cNvSpPr/>
          <p:nvPr/>
        </p:nvSpPr>
        <p:spPr>
          <a:xfrm>
            <a:off x="6824289" y="2427999"/>
            <a:ext cx="1772247" cy="4436353"/>
          </a:xfrm>
          <a:prstGeom prst="rect">
            <a:avLst/>
          </a:prstGeom>
          <a:solidFill>
            <a:srgbClr val="CF5B7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4DEFAE-28BA-614A-913F-8163B82C6F0B}"/>
              </a:ext>
            </a:extLst>
          </p:cNvPr>
          <p:cNvSpPr txBox="1"/>
          <p:nvPr/>
        </p:nvSpPr>
        <p:spPr>
          <a:xfrm>
            <a:off x="6824288" y="5275635"/>
            <a:ext cx="1772247" cy="1569660"/>
          </a:xfrm>
          <a:prstGeom prst="rect">
            <a:avLst/>
          </a:prstGeom>
          <a:solidFill>
            <a:srgbClr val="E5A5B6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Bryan’s potential and their niche in the community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4D7CD01-E98B-7D43-A4DC-A4A224115B64}"/>
              </a:ext>
            </a:extLst>
          </p:cNvPr>
          <p:cNvSpPr/>
          <p:nvPr/>
        </p:nvSpPr>
        <p:spPr>
          <a:xfrm>
            <a:off x="-1" y="2421646"/>
            <a:ext cx="3434093" cy="4430001"/>
          </a:xfrm>
          <a:prstGeom prst="rect">
            <a:avLst/>
          </a:prstGeom>
          <a:solidFill>
            <a:srgbClr val="327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A81D3A-10AF-3E43-8357-1F918156BA3C}"/>
              </a:ext>
            </a:extLst>
          </p:cNvPr>
          <p:cNvSpPr txBox="1"/>
          <p:nvPr/>
        </p:nvSpPr>
        <p:spPr>
          <a:xfrm>
            <a:off x="0" y="5768077"/>
            <a:ext cx="3434091" cy="1077218"/>
          </a:xfrm>
          <a:prstGeom prst="rect">
            <a:avLst/>
          </a:prstGeom>
          <a:solidFill>
            <a:srgbClr val="4995E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MAIN </a:t>
            </a:r>
          </a:p>
          <a:p>
            <a:pPr algn="r"/>
            <a:r>
              <a:rPr lang="en-US" sz="32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STRENGTH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433C68-AB8D-224D-A42B-E71E6E04C9CE}"/>
              </a:ext>
            </a:extLst>
          </p:cNvPr>
          <p:cNvSpPr/>
          <p:nvPr/>
        </p:nvSpPr>
        <p:spPr>
          <a:xfrm>
            <a:off x="3434093" y="2421646"/>
            <a:ext cx="1852431" cy="4430001"/>
          </a:xfrm>
          <a:prstGeom prst="rect">
            <a:avLst/>
          </a:prstGeom>
          <a:solidFill>
            <a:srgbClr val="4995E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24B943-8DA4-DA4B-AD41-781A3BB5782A}"/>
              </a:ext>
            </a:extLst>
          </p:cNvPr>
          <p:cNvSpPr txBox="1"/>
          <p:nvPr/>
        </p:nvSpPr>
        <p:spPr>
          <a:xfrm>
            <a:off x="3439494" y="4536971"/>
            <a:ext cx="1841627" cy="2308324"/>
          </a:xfrm>
          <a:prstGeom prst="rect">
            <a:avLst/>
          </a:prstGeom>
          <a:solidFill>
            <a:srgbClr val="92BFEC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Inability to attract people from College Station and surrounding areas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808C8F-7A63-4EE2-954B-04A7EAC3363E}"/>
              </a:ext>
            </a:extLst>
          </p:cNvPr>
          <p:cNvSpPr txBox="1"/>
          <p:nvPr/>
        </p:nvSpPr>
        <p:spPr>
          <a:xfrm>
            <a:off x="5286524" y="2055491"/>
            <a:ext cx="1537763" cy="369332"/>
          </a:xfrm>
          <a:prstGeom prst="rect">
            <a:avLst/>
          </a:prstGeom>
          <a:solidFill>
            <a:srgbClr val="3B383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Oswald Light" panose="020B060402020202020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9507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0BA6E80-7BA2-CD4B-AC4C-9925DD3B6CCF}"/>
              </a:ext>
            </a:extLst>
          </p:cNvPr>
          <p:cNvSpPr/>
          <p:nvPr/>
        </p:nvSpPr>
        <p:spPr>
          <a:xfrm>
            <a:off x="0" y="-6352"/>
            <a:ext cx="6912230" cy="1137513"/>
          </a:xfrm>
          <a:prstGeom prst="rect">
            <a:avLst/>
          </a:prstGeom>
          <a:solidFill>
            <a:srgbClr val="3B383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AC5514-400D-A24B-A9E2-92B8E0DD0947}"/>
              </a:ext>
            </a:extLst>
          </p:cNvPr>
          <p:cNvSpPr txBox="1"/>
          <p:nvPr/>
        </p:nvSpPr>
        <p:spPr>
          <a:xfrm>
            <a:off x="-1" y="403574"/>
            <a:ext cx="6912230" cy="707886"/>
          </a:xfrm>
          <a:prstGeom prst="rect">
            <a:avLst/>
          </a:prstGeom>
          <a:solidFill>
            <a:srgbClr val="3B3838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General Environment Factors: A&amp;M bringing an abundance of people and almost diluting Bryan’s population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78B0A2-3A28-844A-90FB-E0A219FEBBA8}"/>
              </a:ext>
            </a:extLst>
          </p:cNvPr>
          <p:cNvGrpSpPr/>
          <p:nvPr/>
        </p:nvGrpSpPr>
        <p:grpSpPr>
          <a:xfrm>
            <a:off x="-2" y="1131162"/>
            <a:ext cx="6912232" cy="1114726"/>
            <a:chOff x="5279768" y="1124810"/>
            <a:chExt cx="6912232" cy="1114726"/>
          </a:xfrm>
          <a:solidFill>
            <a:srgbClr val="4F4E88">
              <a:alpha val="80000"/>
            </a:srgbClr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13D35FF-74C2-BB43-8C97-1EFB9331FE61}"/>
                </a:ext>
              </a:extLst>
            </p:cNvPr>
            <p:cNvSpPr/>
            <p:nvPr/>
          </p:nvSpPr>
          <p:spPr>
            <a:xfrm>
              <a:off x="5279770" y="1124810"/>
              <a:ext cx="6912230" cy="11016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CCA635-D9AD-B544-B6FE-06FF9591AC73}"/>
                </a:ext>
              </a:extLst>
            </p:cNvPr>
            <p:cNvSpPr txBox="1"/>
            <p:nvPr/>
          </p:nvSpPr>
          <p:spPr>
            <a:xfrm>
              <a:off x="5279768" y="1839426"/>
              <a:ext cx="6912229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bg1"/>
                  </a:solidFill>
                  <a:latin typeface="Bahnschrift SemiBold Condensed" panose="020B0502040204020203" pitchFamily="34" charset="0"/>
                </a:rPr>
                <a:t>Industry Growth: 25 by 25 program, double edged sword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84330B8-95F4-3D48-A67F-CB289746F98E}"/>
              </a:ext>
            </a:extLst>
          </p:cNvPr>
          <p:cNvGrpSpPr/>
          <p:nvPr/>
        </p:nvGrpSpPr>
        <p:grpSpPr>
          <a:xfrm>
            <a:off x="-2" y="2232802"/>
            <a:ext cx="6912232" cy="1541733"/>
            <a:chOff x="5279768" y="2226450"/>
            <a:chExt cx="6912232" cy="1541733"/>
          </a:xfrm>
          <a:solidFill>
            <a:srgbClr val="4995E0">
              <a:alpha val="70000"/>
            </a:srgbClr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DCA327-FA6E-844B-B4C3-8CB1F0506112}"/>
                </a:ext>
              </a:extLst>
            </p:cNvPr>
            <p:cNvSpPr/>
            <p:nvPr/>
          </p:nvSpPr>
          <p:spPr>
            <a:xfrm>
              <a:off x="5279770" y="2226450"/>
              <a:ext cx="6912230" cy="1541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3452AF-50DC-D841-B928-0E57EA1EC947}"/>
                </a:ext>
              </a:extLst>
            </p:cNvPr>
            <p:cNvSpPr txBox="1"/>
            <p:nvPr/>
          </p:nvSpPr>
          <p:spPr>
            <a:xfrm>
              <a:off x="5279768" y="3047211"/>
              <a:ext cx="6912228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bg1"/>
                  </a:solidFill>
                  <a:latin typeface="Bahnschrift SemiBold Condensed" panose="020B0502040204020203" pitchFamily="34" charset="0"/>
                </a:rPr>
                <a:t>Competitors: Big cities, particularly the ones with a large university</a:t>
              </a:r>
            </a:p>
            <a:p>
              <a:pPr marL="342900" indent="-342900" algn="r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Bahnschrift SemiBold Condensed" panose="020B0502040204020203" pitchFamily="34" charset="0"/>
                </a:rPr>
                <a:t>Industry rivalry and threat of substitutes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40537E-7756-3342-B1A9-6E5F6726A53E}"/>
              </a:ext>
            </a:extLst>
          </p:cNvPr>
          <p:cNvGrpSpPr/>
          <p:nvPr/>
        </p:nvGrpSpPr>
        <p:grpSpPr>
          <a:xfrm>
            <a:off x="0" y="3774535"/>
            <a:ext cx="6912230" cy="1548085"/>
            <a:chOff x="5279770" y="3768183"/>
            <a:chExt cx="6912230" cy="1548085"/>
          </a:xfrm>
          <a:solidFill>
            <a:srgbClr val="CF5B7A">
              <a:alpha val="60000"/>
            </a:srgb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78B31BA-C450-1B49-9B0D-5A213CFCC1BE}"/>
                </a:ext>
              </a:extLst>
            </p:cNvPr>
            <p:cNvSpPr/>
            <p:nvPr/>
          </p:nvSpPr>
          <p:spPr>
            <a:xfrm>
              <a:off x="5279770" y="3768183"/>
              <a:ext cx="6912230" cy="1541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6B73ABE-D45E-B849-82A0-B5E5FCB7DA1A}"/>
                </a:ext>
              </a:extLst>
            </p:cNvPr>
            <p:cNvSpPr txBox="1"/>
            <p:nvPr/>
          </p:nvSpPr>
          <p:spPr>
            <a:xfrm>
              <a:off x="5279770" y="4608382"/>
              <a:ext cx="6912226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bg1"/>
                  </a:solidFill>
                  <a:latin typeface="Bahnschrift SemiBold Condensed" panose="020B0502040204020203" pitchFamily="34" charset="0"/>
                </a:rPr>
                <a:t>Stakeholders: Citizens, city employees, local businesses, and environment</a:t>
              </a:r>
            </a:p>
            <a:p>
              <a:pPr marL="342900" indent="-342900" algn="r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Bahnschrift SemiBold Condensed" panose="020B0502040204020203" pitchFamily="34" charset="0"/>
                </a:rPr>
                <a:t>External stakeholders: Outside customers and tourists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897E4A3-68F5-7248-84DC-31D98B67F1AF}"/>
              </a:ext>
            </a:extLst>
          </p:cNvPr>
          <p:cNvGrpSpPr/>
          <p:nvPr/>
        </p:nvGrpSpPr>
        <p:grpSpPr>
          <a:xfrm>
            <a:off x="0" y="5316267"/>
            <a:ext cx="6912230" cy="1554438"/>
            <a:chOff x="5279770" y="5309915"/>
            <a:chExt cx="6912230" cy="1554438"/>
          </a:xfrm>
          <a:solidFill>
            <a:srgbClr val="E5A5B6">
              <a:alpha val="50000"/>
            </a:srgbClr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0E6EB27-49EB-3E45-B350-903FFFFF0302}"/>
                </a:ext>
              </a:extLst>
            </p:cNvPr>
            <p:cNvSpPr/>
            <p:nvPr/>
          </p:nvSpPr>
          <p:spPr>
            <a:xfrm>
              <a:off x="5279770" y="5309915"/>
              <a:ext cx="6912230" cy="15417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157A9EA-6352-ED45-B4B2-901FA0CF8D51}"/>
                </a:ext>
              </a:extLst>
            </p:cNvPr>
            <p:cNvSpPr txBox="1"/>
            <p:nvPr/>
          </p:nvSpPr>
          <p:spPr>
            <a:xfrm>
              <a:off x="5279770" y="6156467"/>
              <a:ext cx="6912226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bg1"/>
                  </a:solidFill>
                  <a:latin typeface="Bahnschrift SemiBold Condensed" panose="020B0502040204020203" pitchFamily="34" charset="0"/>
                </a:rPr>
                <a:t>Threats: Immense growth of A&amp;M</a:t>
              </a:r>
            </a:p>
            <a:p>
              <a:pPr marL="342900" indent="-342900" algn="r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  <a:latin typeface="Bahnschrift SemiBold Condensed" panose="020B0502040204020203" pitchFamily="34" charset="0"/>
                </a:rPr>
                <a:t>Opportunities: Immense growth of A&amp;M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01DE6150-821A-2F44-8382-ACEC754C3326}"/>
              </a:ext>
            </a:extLst>
          </p:cNvPr>
          <p:cNvSpPr/>
          <p:nvPr/>
        </p:nvSpPr>
        <p:spPr>
          <a:xfrm>
            <a:off x="8497825" y="0"/>
            <a:ext cx="3694175" cy="6864351"/>
          </a:xfrm>
          <a:prstGeom prst="rect">
            <a:avLst/>
          </a:prstGeom>
          <a:solidFill>
            <a:srgbClr val="4995E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BCC6DD-B00E-8D43-B8F4-8303D07CD427}"/>
              </a:ext>
            </a:extLst>
          </p:cNvPr>
          <p:cNvSpPr txBox="1"/>
          <p:nvPr/>
        </p:nvSpPr>
        <p:spPr>
          <a:xfrm>
            <a:off x="8497824" y="4008381"/>
            <a:ext cx="3694175" cy="2862322"/>
          </a:xfrm>
          <a:prstGeom prst="rect">
            <a:avLst/>
          </a:prstGeom>
          <a:solidFill>
            <a:srgbClr val="4995E0"/>
          </a:solidFill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ANALYSIS OF THE FIRM </a:t>
            </a:r>
          </a:p>
          <a:p>
            <a:r>
              <a:rPr lang="en-US" sz="45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AND ITS ENVIRONMENT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5494FE-BEB2-3A48-98AB-882E48206948}"/>
              </a:ext>
            </a:extLst>
          </p:cNvPr>
          <p:cNvSpPr txBox="1"/>
          <p:nvPr/>
        </p:nvSpPr>
        <p:spPr>
          <a:xfrm>
            <a:off x="6784214" y="6165501"/>
            <a:ext cx="171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Oswald Light" panose="020B0604020202020204" charset="0"/>
              </a:rPr>
              <a:t>EXTERNAL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63245A-BC8B-4792-A612-A71B0D0331BF}"/>
              </a:ext>
            </a:extLst>
          </p:cNvPr>
          <p:cNvSpPr/>
          <p:nvPr/>
        </p:nvSpPr>
        <p:spPr>
          <a:xfrm>
            <a:off x="6912230" y="-6352"/>
            <a:ext cx="1585594" cy="6870703"/>
          </a:xfrm>
          <a:prstGeom prst="rect">
            <a:avLst/>
          </a:prstGeom>
          <a:solidFill>
            <a:srgbClr val="97C5B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76C3C9-6798-4BBF-B122-A36335E5B0DB}"/>
              </a:ext>
            </a:extLst>
          </p:cNvPr>
          <p:cNvSpPr txBox="1"/>
          <p:nvPr/>
        </p:nvSpPr>
        <p:spPr>
          <a:xfrm>
            <a:off x="6912230" y="6335681"/>
            <a:ext cx="1585594" cy="461665"/>
          </a:xfrm>
          <a:prstGeom prst="rect">
            <a:avLst/>
          </a:prstGeom>
          <a:solidFill>
            <a:srgbClr val="97C5B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EXTERNAL</a:t>
            </a:r>
          </a:p>
        </p:txBody>
      </p:sp>
    </p:spTree>
    <p:extLst>
      <p:ext uri="{BB962C8B-B14F-4D97-AF65-F5344CB8AC3E}">
        <p14:creationId xmlns:p14="http://schemas.microsoft.com/office/powerpoint/2010/main" val="684401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0E2C6F-382B-44F1-866C-615DD0067EB1}"/>
              </a:ext>
            </a:extLst>
          </p:cNvPr>
          <p:cNvSpPr/>
          <p:nvPr/>
        </p:nvSpPr>
        <p:spPr>
          <a:xfrm>
            <a:off x="7066133" y="0"/>
            <a:ext cx="5125867" cy="6857999"/>
          </a:xfrm>
          <a:prstGeom prst="rect">
            <a:avLst/>
          </a:prstGeom>
          <a:solidFill>
            <a:srgbClr val="4F4E8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529E61-99C1-4463-B6EC-D71233AE8B6E}"/>
              </a:ext>
            </a:extLst>
          </p:cNvPr>
          <p:cNvSpPr txBox="1"/>
          <p:nvPr/>
        </p:nvSpPr>
        <p:spPr>
          <a:xfrm>
            <a:off x="7082207" y="5103673"/>
            <a:ext cx="5109793" cy="1754326"/>
          </a:xfrm>
          <a:prstGeom prst="rect">
            <a:avLst/>
          </a:prstGeom>
          <a:solidFill>
            <a:srgbClr val="4F4E88"/>
          </a:solidFill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IMPLEMENTATION PLAN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16B6E5-B446-8244-B4EE-2B6EDB9CE082}"/>
              </a:ext>
            </a:extLst>
          </p:cNvPr>
          <p:cNvSpPr/>
          <p:nvPr/>
        </p:nvSpPr>
        <p:spPr>
          <a:xfrm>
            <a:off x="5353016" y="0"/>
            <a:ext cx="1713117" cy="5382883"/>
          </a:xfrm>
          <a:prstGeom prst="rect">
            <a:avLst/>
          </a:prstGeom>
          <a:solidFill>
            <a:srgbClr val="336699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4FD8EA-7727-124F-83F7-4A8A9376B69C}"/>
              </a:ext>
            </a:extLst>
          </p:cNvPr>
          <p:cNvSpPr txBox="1"/>
          <p:nvPr/>
        </p:nvSpPr>
        <p:spPr>
          <a:xfrm>
            <a:off x="5384671" y="4982773"/>
            <a:ext cx="1681462" cy="400110"/>
          </a:xfrm>
          <a:prstGeom prst="rect">
            <a:avLst/>
          </a:prstGeom>
          <a:solidFill>
            <a:srgbClr val="5C85AD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???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73AB13-A29B-DF48-BEB4-55602CA95A0A}"/>
              </a:ext>
            </a:extLst>
          </p:cNvPr>
          <p:cNvSpPr/>
          <p:nvPr/>
        </p:nvSpPr>
        <p:spPr>
          <a:xfrm>
            <a:off x="3544825" y="0"/>
            <a:ext cx="1808191" cy="4259381"/>
          </a:xfrm>
          <a:prstGeom prst="rect">
            <a:avLst/>
          </a:prstGeom>
          <a:solidFill>
            <a:srgbClr val="FBCBA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6BD2EB-AB21-864A-94D7-989E4FC9087A}"/>
              </a:ext>
            </a:extLst>
          </p:cNvPr>
          <p:cNvSpPr txBox="1"/>
          <p:nvPr/>
        </p:nvSpPr>
        <p:spPr>
          <a:xfrm>
            <a:off x="3568160" y="3859271"/>
            <a:ext cx="1752708" cy="400110"/>
          </a:xfrm>
          <a:prstGeom prst="rect">
            <a:avLst/>
          </a:prstGeom>
          <a:solidFill>
            <a:srgbClr val="FBCBA6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???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010D37-2F8F-7843-BCD5-D4C0E0060846}"/>
              </a:ext>
            </a:extLst>
          </p:cNvPr>
          <p:cNvSpPr/>
          <p:nvPr/>
        </p:nvSpPr>
        <p:spPr>
          <a:xfrm>
            <a:off x="1738994" y="0"/>
            <a:ext cx="1808191" cy="2984740"/>
          </a:xfrm>
          <a:prstGeom prst="rect">
            <a:avLst/>
          </a:prstGeom>
          <a:solidFill>
            <a:srgbClr val="FF6B5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6149AB-815C-DF49-91B0-774A8BF94189}"/>
              </a:ext>
            </a:extLst>
          </p:cNvPr>
          <p:cNvSpPr txBox="1"/>
          <p:nvPr/>
        </p:nvSpPr>
        <p:spPr>
          <a:xfrm>
            <a:off x="1741584" y="2618971"/>
            <a:ext cx="1803241" cy="384721"/>
          </a:xfrm>
          <a:prstGeom prst="rect">
            <a:avLst/>
          </a:prstGeom>
          <a:solidFill>
            <a:srgbClr val="FF6B50"/>
          </a:solidFill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???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010774-EA05-AB47-9153-C59AD9296885}"/>
              </a:ext>
            </a:extLst>
          </p:cNvPr>
          <p:cNvSpPr/>
          <p:nvPr/>
        </p:nvSpPr>
        <p:spPr>
          <a:xfrm>
            <a:off x="0" y="0"/>
            <a:ext cx="1740268" cy="2352258"/>
          </a:xfrm>
          <a:prstGeom prst="rect">
            <a:avLst/>
          </a:prstGeom>
          <a:solidFill>
            <a:srgbClr val="A1465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9FF06B-BC08-1443-82EE-BBE5E05D8070}"/>
              </a:ext>
            </a:extLst>
          </p:cNvPr>
          <p:cNvSpPr txBox="1"/>
          <p:nvPr/>
        </p:nvSpPr>
        <p:spPr>
          <a:xfrm>
            <a:off x="43812" y="1945024"/>
            <a:ext cx="1712530" cy="369332"/>
          </a:xfrm>
          <a:prstGeom prst="rect">
            <a:avLst/>
          </a:prstGeom>
          <a:solidFill>
            <a:srgbClr val="E5A5B6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328862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2" grpId="0" animBg="1"/>
      <p:bldP spid="13" grpId="0" animBg="1"/>
      <p:bldP spid="16" grpId="0" animBg="1"/>
      <p:bldP spid="19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D98417-C09B-7047-B3EA-98614885F2E0}"/>
              </a:ext>
            </a:extLst>
          </p:cNvPr>
          <p:cNvSpPr/>
          <p:nvPr/>
        </p:nvSpPr>
        <p:spPr>
          <a:xfrm>
            <a:off x="-1" y="0"/>
            <a:ext cx="12192000" cy="1974574"/>
          </a:xfrm>
          <a:prstGeom prst="rect">
            <a:avLst/>
          </a:prstGeom>
          <a:solidFill>
            <a:srgbClr val="4F4E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7B33DF-1F11-704C-A4CF-AA6F534BD3C3}"/>
              </a:ext>
            </a:extLst>
          </p:cNvPr>
          <p:cNvSpPr txBox="1"/>
          <p:nvPr/>
        </p:nvSpPr>
        <p:spPr>
          <a:xfrm>
            <a:off x="0" y="849477"/>
            <a:ext cx="12192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CONTROL PLAN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BE5DEE3-3931-E140-9A35-1A4D0149EC71}"/>
              </a:ext>
            </a:extLst>
          </p:cNvPr>
          <p:cNvGrpSpPr/>
          <p:nvPr/>
        </p:nvGrpSpPr>
        <p:grpSpPr>
          <a:xfrm>
            <a:off x="-1" y="1974574"/>
            <a:ext cx="12191999" cy="1124809"/>
            <a:chOff x="5279769" y="0"/>
            <a:chExt cx="12191999" cy="1124809"/>
          </a:xfrm>
          <a:solidFill>
            <a:srgbClr val="FBCBA6">
              <a:alpha val="90000"/>
            </a:srgbClr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2B069FE-3C39-7345-B142-30F1CB37F8AC}"/>
                </a:ext>
              </a:extLst>
            </p:cNvPr>
            <p:cNvSpPr/>
            <p:nvPr/>
          </p:nvSpPr>
          <p:spPr>
            <a:xfrm>
              <a:off x="5279769" y="0"/>
              <a:ext cx="12191999" cy="112480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F06604-C7F3-EF45-A032-CD370BE9B3F0}"/>
                </a:ext>
              </a:extLst>
            </p:cNvPr>
            <p:cNvSpPr txBox="1"/>
            <p:nvPr/>
          </p:nvSpPr>
          <p:spPr>
            <a:xfrm>
              <a:off x="5436680" y="246055"/>
              <a:ext cx="889184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Bahnschrift SemiBold Condensed" panose="020B0502040204020203" pitchFamily="34" charset="0"/>
                </a:rPr>
                <a:t>???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3AB9BAA-0E2D-734C-9773-3DE4BBD6B353}"/>
              </a:ext>
            </a:extLst>
          </p:cNvPr>
          <p:cNvGrpSpPr/>
          <p:nvPr/>
        </p:nvGrpSpPr>
        <p:grpSpPr>
          <a:xfrm>
            <a:off x="0" y="3099384"/>
            <a:ext cx="10706100" cy="1101640"/>
            <a:chOff x="5279770" y="1124810"/>
            <a:chExt cx="9582150" cy="1101640"/>
          </a:xfrm>
          <a:solidFill>
            <a:srgbClr val="97C5B0">
              <a:alpha val="80000"/>
            </a:srgbClr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819ED92-EBB9-974A-AC9E-230F93BF4D76}"/>
                </a:ext>
              </a:extLst>
            </p:cNvPr>
            <p:cNvSpPr/>
            <p:nvPr/>
          </p:nvSpPr>
          <p:spPr>
            <a:xfrm>
              <a:off x="5279770" y="1124810"/>
              <a:ext cx="9582150" cy="11016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575483-E4D7-F04A-81E6-F4C098524804}"/>
                </a:ext>
              </a:extLst>
            </p:cNvPr>
            <p:cNvSpPr txBox="1"/>
            <p:nvPr/>
          </p:nvSpPr>
          <p:spPr>
            <a:xfrm>
              <a:off x="5436680" y="1491675"/>
              <a:ext cx="6468808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Bahnschrift SemiBold Condensed" panose="020B0502040204020203" pitchFamily="34" charset="0"/>
                </a:rPr>
                <a:t>???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5A2F3A4-5FA5-234F-B228-3FDA15F7CCCB}"/>
              </a:ext>
            </a:extLst>
          </p:cNvPr>
          <p:cNvGrpSpPr/>
          <p:nvPr/>
        </p:nvGrpSpPr>
        <p:grpSpPr>
          <a:xfrm>
            <a:off x="0" y="4201025"/>
            <a:ext cx="8820150" cy="1285823"/>
            <a:chOff x="5279770" y="2226451"/>
            <a:chExt cx="7848600" cy="1285823"/>
          </a:xfrm>
          <a:solidFill>
            <a:srgbClr val="3B3838">
              <a:alpha val="70000"/>
            </a:srgbClr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C5B8F6C-6CAD-CB48-95AE-37A8F01A75C5}"/>
                </a:ext>
              </a:extLst>
            </p:cNvPr>
            <p:cNvSpPr/>
            <p:nvPr/>
          </p:nvSpPr>
          <p:spPr>
            <a:xfrm>
              <a:off x="5279770" y="2226451"/>
              <a:ext cx="7848600" cy="12858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4D10DA1-379A-1442-A509-CE23F68F3F6C}"/>
                </a:ext>
              </a:extLst>
            </p:cNvPr>
            <p:cNvSpPr txBox="1"/>
            <p:nvPr/>
          </p:nvSpPr>
          <p:spPr>
            <a:xfrm>
              <a:off x="5436680" y="2485593"/>
              <a:ext cx="6468808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Bahnschrift SemiBold Condensed" panose="020B0502040204020203" pitchFamily="34" charset="0"/>
                </a:rPr>
                <a:t>???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E48B6E1-FFA3-A04A-82BA-B4165724D299}"/>
              </a:ext>
            </a:extLst>
          </p:cNvPr>
          <p:cNvGrpSpPr/>
          <p:nvPr/>
        </p:nvGrpSpPr>
        <p:grpSpPr>
          <a:xfrm>
            <a:off x="-1" y="5486848"/>
            <a:ext cx="7105651" cy="1371152"/>
            <a:chOff x="5279770" y="2397031"/>
            <a:chExt cx="7105651" cy="1371152"/>
          </a:xfrm>
          <a:solidFill>
            <a:srgbClr val="CF5B7A">
              <a:alpha val="60000"/>
            </a:srgbClr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FF59E4F-CF6D-1942-A77D-482539AA7E75}"/>
                </a:ext>
              </a:extLst>
            </p:cNvPr>
            <p:cNvSpPr/>
            <p:nvPr/>
          </p:nvSpPr>
          <p:spPr>
            <a:xfrm>
              <a:off x="5279770" y="2397031"/>
              <a:ext cx="7105651" cy="137115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6EE155E-405C-5344-87FF-8BA0970839E4}"/>
                </a:ext>
              </a:extLst>
            </p:cNvPr>
            <p:cNvSpPr txBox="1"/>
            <p:nvPr/>
          </p:nvSpPr>
          <p:spPr>
            <a:xfrm>
              <a:off x="5436681" y="2882552"/>
              <a:ext cx="6468808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Bahnschrift SemiBold Condensed" panose="020B0502040204020203" pitchFamily="34" charset="0"/>
                </a:rPr>
                <a:t>???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3918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48F6AEE-ED22-6846-812B-5CE235F57414}"/>
              </a:ext>
            </a:extLst>
          </p:cNvPr>
          <p:cNvSpPr/>
          <p:nvPr/>
        </p:nvSpPr>
        <p:spPr>
          <a:xfrm>
            <a:off x="5032513" y="1647832"/>
            <a:ext cx="2126974" cy="3235594"/>
          </a:xfrm>
          <a:prstGeom prst="rect">
            <a:avLst/>
          </a:prstGeom>
          <a:solidFill>
            <a:srgbClr val="4995E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96903-8CE9-9E4D-9986-1A8EC862700D}"/>
              </a:ext>
            </a:extLst>
          </p:cNvPr>
          <p:cNvSpPr txBox="1"/>
          <p:nvPr/>
        </p:nvSpPr>
        <p:spPr>
          <a:xfrm>
            <a:off x="5553719" y="373560"/>
            <a:ext cx="10050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4995E0"/>
                </a:solidFill>
                <a:latin typeface="Bahnschrift SemiBold Condensed" panose="020B0502040204020203" pitchFamily="34" charset="0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22AECF-715F-A143-80CF-92AD905AC9EB}"/>
              </a:ext>
            </a:extLst>
          </p:cNvPr>
          <p:cNvSpPr/>
          <p:nvPr/>
        </p:nvSpPr>
        <p:spPr>
          <a:xfrm>
            <a:off x="2644936" y="2319130"/>
            <a:ext cx="2126974" cy="2590800"/>
          </a:xfrm>
          <a:prstGeom prst="rect">
            <a:avLst/>
          </a:prstGeom>
          <a:solidFill>
            <a:srgbClr val="97C5B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88E4C-745C-A644-9FD0-50DDF96E57F7}"/>
              </a:ext>
            </a:extLst>
          </p:cNvPr>
          <p:cNvSpPr txBox="1"/>
          <p:nvPr/>
        </p:nvSpPr>
        <p:spPr>
          <a:xfrm>
            <a:off x="3163657" y="1035039"/>
            <a:ext cx="10050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97C5B0"/>
                </a:solidFill>
                <a:latin typeface="Bahnschrift SemiBold Condensed" panose="020B0502040204020203" pitchFamily="34" charset="0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026CCD-2329-3041-8908-C17A63D06A81}"/>
              </a:ext>
            </a:extLst>
          </p:cNvPr>
          <p:cNvSpPr/>
          <p:nvPr/>
        </p:nvSpPr>
        <p:spPr>
          <a:xfrm>
            <a:off x="7481013" y="2908852"/>
            <a:ext cx="2126974" cy="1974574"/>
          </a:xfrm>
          <a:prstGeom prst="rect">
            <a:avLst/>
          </a:prstGeom>
          <a:solidFill>
            <a:srgbClr val="CF5B7A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618A55-F7EE-0F4A-8D3A-5CC61BD9F26D}"/>
              </a:ext>
            </a:extLst>
          </p:cNvPr>
          <p:cNvSpPr txBox="1"/>
          <p:nvPr/>
        </p:nvSpPr>
        <p:spPr>
          <a:xfrm>
            <a:off x="8002219" y="1621328"/>
            <a:ext cx="10050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CF5B7A"/>
                </a:solidFill>
                <a:latin typeface="Bahnschrift SemiBold Condensed" panose="020B0502040204020203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C7036D-8F16-0345-A2E8-AE8F6735207E}"/>
              </a:ext>
            </a:extLst>
          </p:cNvPr>
          <p:cNvSpPr txBox="1"/>
          <p:nvPr/>
        </p:nvSpPr>
        <p:spPr>
          <a:xfrm>
            <a:off x="5032513" y="1649589"/>
            <a:ext cx="2126974" cy="461665"/>
          </a:xfrm>
          <a:prstGeom prst="rect">
            <a:avLst/>
          </a:prstGeom>
          <a:solidFill>
            <a:srgbClr val="4995E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???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9AA7B9-5776-6D4C-ADFF-C4D4AEB1EC0A}"/>
              </a:ext>
            </a:extLst>
          </p:cNvPr>
          <p:cNvSpPr txBox="1"/>
          <p:nvPr/>
        </p:nvSpPr>
        <p:spPr>
          <a:xfrm>
            <a:off x="2718184" y="2373866"/>
            <a:ext cx="2053726" cy="461665"/>
          </a:xfrm>
          <a:prstGeom prst="rect">
            <a:avLst/>
          </a:prstGeom>
          <a:solidFill>
            <a:srgbClr val="97C5B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???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7ECE92-C38E-3042-BB94-B8C4A0E29C6E}"/>
              </a:ext>
            </a:extLst>
          </p:cNvPr>
          <p:cNvSpPr txBox="1"/>
          <p:nvPr/>
        </p:nvSpPr>
        <p:spPr>
          <a:xfrm>
            <a:off x="7526749" y="2908853"/>
            <a:ext cx="2081237" cy="461665"/>
          </a:xfrm>
          <a:prstGeom prst="rect">
            <a:avLst/>
          </a:prstGeom>
          <a:solidFill>
            <a:srgbClr val="CF5B7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???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920F75-6110-4269-88AD-B5B16B9A86A2}"/>
              </a:ext>
            </a:extLst>
          </p:cNvPr>
          <p:cNvSpPr/>
          <p:nvPr/>
        </p:nvSpPr>
        <p:spPr>
          <a:xfrm>
            <a:off x="0" y="4883426"/>
            <a:ext cx="12192000" cy="1974574"/>
          </a:xfrm>
          <a:prstGeom prst="rect">
            <a:avLst/>
          </a:prstGeom>
          <a:solidFill>
            <a:srgbClr val="4F4E8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D4FD07-C1DD-4625-878E-3282217DE18A}"/>
              </a:ext>
            </a:extLst>
          </p:cNvPr>
          <p:cNvSpPr txBox="1"/>
          <p:nvPr/>
        </p:nvSpPr>
        <p:spPr>
          <a:xfrm>
            <a:off x="0" y="4899239"/>
            <a:ext cx="12191999" cy="1200329"/>
          </a:xfrm>
          <a:prstGeom prst="rect">
            <a:avLst/>
          </a:prstGeom>
          <a:solidFill>
            <a:srgbClr val="4F4E8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5791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B83B81-F0BB-4016-9060-66A9FF91A871}"/>
              </a:ext>
            </a:extLst>
          </p:cNvPr>
          <p:cNvSpPr/>
          <p:nvPr/>
        </p:nvSpPr>
        <p:spPr>
          <a:xfrm>
            <a:off x="0" y="-33631"/>
            <a:ext cx="12192000" cy="1974574"/>
          </a:xfrm>
          <a:prstGeom prst="rect">
            <a:avLst/>
          </a:prstGeom>
          <a:solidFill>
            <a:srgbClr val="CF5B7A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E6106-BAFF-49E1-A153-35C49875A46D}"/>
              </a:ext>
            </a:extLst>
          </p:cNvPr>
          <p:cNvSpPr txBox="1"/>
          <p:nvPr/>
        </p:nvSpPr>
        <p:spPr>
          <a:xfrm>
            <a:off x="0" y="740614"/>
            <a:ext cx="12191999" cy="1200329"/>
          </a:xfrm>
          <a:prstGeom prst="rect">
            <a:avLst/>
          </a:prstGeom>
          <a:solidFill>
            <a:srgbClr val="CF5B7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Works Cited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572B84-DDB8-466A-A2BC-B79D87091384}"/>
              </a:ext>
            </a:extLst>
          </p:cNvPr>
          <p:cNvSpPr/>
          <p:nvPr/>
        </p:nvSpPr>
        <p:spPr>
          <a:xfrm>
            <a:off x="207034" y="2234076"/>
            <a:ext cx="11731924" cy="4623923"/>
          </a:xfrm>
          <a:prstGeom prst="rect">
            <a:avLst/>
          </a:prstGeom>
          <a:solidFill>
            <a:srgbClr val="3B383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3D00EF-5044-4FFF-A188-7096F72054BA}"/>
              </a:ext>
            </a:extLst>
          </p:cNvPr>
          <p:cNvSpPr txBox="1"/>
          <p:nvPr/>
        </p:nvSpPr>
        <p:spPr>
          <a:xfrm>
            <a:off x="433108" y="2515132"/>
            <a:ext cx="11185949" cy="400595"/>
          </a:xfrm>
          <a:prstGeom prst="rect">
            <a:avLst/>
          </a:prstGeom>
          <a:solidFill>
            <a:srgbClr val="3B3838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9230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6206</TotalTime>
  <Words>273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Bahnschrift SemiBold Condensed</vt:lpstr>
      <vt:lpstr>Calibri</vt:lpstr>
      <vt:lpstr>Calibri Light</vt:lpstr>
      <vt:lpstr>Oswald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Christian Sanchez</dc:creator>
  <cp:lastModifiedBy>Christian Sanchez</cp:lastModifiedBy>
  <cp:revision>37</cp:revision>
  <dcterms:created xsi:type="dcterms:W3CDTF">2018-11-26T22:55:51Z</dcterms:created>
  <dcterms:modified xsi:type="dcterms:W3CDTF">2019-01-22T19:48:50Z</dcterms:modified>
</cp:coreProperties>
</file>